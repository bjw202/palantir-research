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2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3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품질 비용 (COPQ)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연간 비효율 비용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비계획 다운타임</c:v>
                </c:pt>
              </c:strCache>
            </c:strRef>
          </c:tx>
          <c:spPr>
            <a:solidFill>
              <a:srgbClr val="FF9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연간 비효율 비용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정비 비효율</c:v>
                </c:pt>
              </c:strCache>
            </c:strRef>
          </c:tx>
          <c:spPr>
            <a:solidFill>
              <a:srgbClr val="FFB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연간 비효율 비용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의사결정 지연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연간 비효율 비용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금액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총 투자 (18개월)</c:v>
                  </c:pt>
                  <c:pt idx="1">
                    <c:v>연간 절감 효과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148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절감 비율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96F3"/>
              </a:solidFill>
              <a:effectLst/>
            </c:spPr>
          </c:dPt>
          <c:dPt>
            <c:idx val="1"/>
            <c:bubble3D val="0"/>
            <c:spPr>
              <a:solidFill>
                <a:srgbClr val="4CAF50"/>
              </a:solidFill>
              <a:effectLst/>
            </c:spPr>
          </c:dPt>
          <c:dPt>
            <c:idx val="2"/>
            <c:bubble3D val="0"/>
            <c:spPr>
              <a:solidFill>
                <a:srgbClr val="FFB020"/>
              </a:solidFill>
              <a:effectLst/>
            </c:spPr>
          </c:dPt>
          <c:dPt>
            <c:idx val="3"/>
            <c:bubble3D val="0"/>
            <c:spPr>
              <a:solidFill>
                <a:srgbClr val="FF98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B2A4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B2A4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B2A4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B2A4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품질 비용 55%</c:v>
                </c:pt>
                <c:pt idx="1">
                  <c:v>다운타임 28%</c:v>
                </c:pt>
                <c:pt idx="2">
                  <c:v>에너지 10%</c:v>
                </c:pt>
                <c:pt idx="3">
                  <c:v>인건비 7%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55</c:v>
                </c:pt>
                <c:pt idx="1">
                  <c:v>28</c:v>
                </c:pt>
                <c:pt idx="2">
                  <c:v>10</c:v>
                </c:pt>
                <c:pt idx="3">
                  <c:v>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발표는 우리 제조 현장이 직면한 구조적 문제를 진단하고, 온톨로지와 AI를 결합한 새로운 해결 전략을 제안합니다.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발표는 네 파트로 구성됩니다. 먼저 우리 현장의 문제를 솔직하게 진단하고, 해결 전략을 설명한 뒤, 실제 시나리오로 효과를 보여드리고, 마지막으로 구체적인 도입 계획을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공장에는 ERP부터 PLM까지 7개 이상의 시스템이 운영되고 있습니다. 각 시스템은 충실히 데이터를 기록하고 있습니다. 문제는 이 시스템들이 서로 대화하지 못한다는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CNC 설비 하나가 ERP에서는 "EQ-001-A", MES에서는 "MACHINE_A_LINE1", CMMS에서는 "ASSET-00142"로 불립니다. 세 시스템 모두 같은 설비를 가리키지만, 서로 이것이 같은 설비라는 것을 모릅니다.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불량이 발생하면 엔지니어는 QMS, MES, SCADA, CMMS 4개 시스템에 각각 로그인해서 엑셀로 데이터를 병합하는 데 최소 6시간, 복잡한 경우 3일까지 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엔지니어가 원인을 분석하는 5시간 동안, 공장은 멈추지 않습니다. 원인을 모르니까 멈출 수도 없고, 전체 라인을 세우기엔 생산 손실이 너무 큽니다. 그 사이 동일한 조건에서 불량 Lot 8개가 추가로 생산됩니다.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공장은 24시간 돌아가지만, 의사결정 구조는 주간 근무 기준입니다. 주간에는 전문 엔지니어 7명이 즉시 대응하지만, 야간에는 운전원 2명과 당직 기사 1명뿐입니다.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품질 비용만 연 150~200억 원, 비계획 다운타임 110억 원, 정비 비효율과 의사결정 지연까지 합하면 연간 290~360억 원입니다. 매출 1,000억 원 기준으로 29~36%에 해당합니다.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BI는 현황만 보여주고 왜 그런지는 모릅니다. ML은 예측하지만 실행으로 이어지지 않아 성공률이 11%에 불과합니다. 데이터 레이크는 80%가 실패합니다. RPA는 판단을 못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데이터에 의미, 관계, 행동이 없다는 것입니다. 이 세 가지를 하나로 통합한 것이 바로 온톨로지입니다.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아무것도 하지 않으면 경쟁력 약화, 인력 리스크, 규제 리스크, 비용 누적 네 가지 리스크가 동시에 진행됩니다. 매년 290~360억 원의 비효율 비용이 누적되어 3년이면 1,000억 원에 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 우리 현장의 문제를 솔직하게 진단했습니다. 다음 Part 2에서는 온톨로지와 AI를 결합한 운영형 의사결정 시스템을 소개하겠습니다.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온톨로지는 현실 세계의 설비, 제품, 자재, 작업자를 하나의 객체로 정의하고, 그 사이의 관계를 연결하는 것입니다. 마치 종이 지도를 네비게이션 앱으로 바꾸는 것과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온톨로지를 어렵게 생각할 필요가 없습니다. Object는 공장에 있는 모든 것, Link는 그것들 사이의 관계, Function은 자동 판단, Action은 실제 행동입니다.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현실 공장을 컴퓨터 안에 그대로 복사해 넣는 것입니다. 현실과 디지털이 1:1로 연결되어 살아 움직이는 지도가 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불량이 발생하면 시스템이 자동으로 연결고리를 따라갑니다. 현재는 5시간~3일이 걸리지만, 온톨로지에서는 수 초면 끝납니다.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AI는 내비게이션과 같습니다. 아무리 좋은 내비라도 지도가 없으면 길을 찾을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AI는 제안만 합니다. 실행은 반드시 담당자가 승인해야 합니다. 모든 제안과 실행에는 빠짐없이 기록이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 이론을 설명했습니다. 지금부터 우리 공장에서 매일 벌어지는 세 가지 상황을 Before/After로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프로세스에서는 5시간이 걸리고 8개 Lot가 추가 불량 위험에 노출됩니다. 온톨로지 시스템에서는 1분 안에 정량적 원인 분석이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AI가 관계 그래프를 따라 5단계로 문제를 해결합니다. 경험이 학습 데이터로 축적되어 다음번에는 사전 경고합니다.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새벽 2시 35분, AI 시스템에서는 이상을 감지하는 즉시 추세를 분석하고, 비용과 리스크가 포함된 조치 옵션을 제시합니다. 비계획 다운타임 0분, 비용 93% 절감됩니다.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정비팀과 생산팀의 갈등에 AI가 데이터를 가져옵니다. 감이 아니라 데이터로 결정하는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시나리오는 동일한 온톨로지 위에서 돌아가며, 서로가 서로를 똑똑하게 만듭니다. 연간 108~188억원 절감, 투자 회수 6~12개월입니다.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앞에서 문제와 해결책을 확인했습니다. 이제 가장 중요한 질문, 어떻게, 얼마로, 언제까지 도입할 것인가입니다.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기술 스택 중, 하이브리드 접근이 리스크와 비용 모두를 관리합니다.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하이브리드를 권장하는 핵심 이유: 불확실성이 큰 영역에서 대규모 선행 투자는 도박입니다. 5~10억원이면 검증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로드맵은 18개월 4단계입니다. 핵심은 Phase 0 — 2개월, 3명, 3~5억원으로 작동 여부를 증명합니다.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0가 전체 프로젝트의 성패를 결정합니다. 5가지 질문에 시스템이 답할 수 있다면 온톨로지 접근이 작동한다는 증거입니다.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18개월간 23~43억원 투자하면 매년 108~188억원 비효율이 제거됩니다. 보수적 성공률 60%만 적용해도 3년 ROI가 370%입니다.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절감의 55%는 품질 비용에서, 28%는 다운타임 감소에서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0은 3명으로 시작합니다. 온톨로지 엔지니어는 기존 데이터 아키텍트를 전환 육성합니다.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경영진이 반드시 물어볼 세 가지 질문에 대한 명확한 답을 준비했습니다.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발표를 5문장으로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경영진께 3가지를 요청드립니다. Phase 0 착수 승인, 파일럿 라인 선정, 핵심 팀 3명 배정. 2개월 후 5개 질문에 시스템이 답할 수 있는지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206240"/>
            <a:ext cx="4572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데이터에서 결정으로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온톨로지 + AI 기반 스마트팩토리 전략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Sector AI-Driven Research Center  |  2026.03.16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여정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196596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" y="1426464"/>
            <a:ext cx="2039112" cy="2999232"/>
          </a:xfrm>
          <a:prstGeom prst="rect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진단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지금의 방식이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한계인가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463040"/>
            <a:ext cx="196596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전략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1760" y="2926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온톨로지 + AI는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 다른가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463040"/>
            <a:ext cx="196596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▶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5488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 시나리오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2926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비교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146304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0" y="1463040"/>
            <a:ext cx="196596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4944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 로드맵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2926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어떻게, 얼마에,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언제까지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480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현재 위치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"우리 공장에 데이터가 없는 것이 아닙니다"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645920"/>
            <a:ext cx="1005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데이터 있음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25880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554480" y="1645920"/>
            <a:ext cx="1005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데이터 있음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60320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788920" y="1645920"/>
            <a:ext cx="1005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8892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8892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8892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데이터 있음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94760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023360" y="1645920"/>
            <a:ext cx="1005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2336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2336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데이터 있음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0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257800" y="1645920"/>
            <a:ext cx="1005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5780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5780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데이터 있음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63640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492240" y="1645920"/>
            <a:ext cx="1005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9224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9224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데이터 있음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0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726680" y="1645920"/>
            <a:ext cx="1005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2668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72668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2668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데이터 있음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1520" y="3200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시스템, 7개의 섬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데이터는 넘칩니다. 연결되지 않을 뿐입니다.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"같은 설비, 세 개의 이름"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0" y="2011680"/>
            <a:ext cx="2743200" cy="14630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21031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CNC 설비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(실체는 하나)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1097280"/>
            <a:ext cx="2103120" cy="6400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097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"EQ-001-A"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103120" cy="6400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"MACHINE_A_LINE1"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2468880"/>
            <a:ext cx="2103120" cy="6400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"ASSET-00142"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886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설비, 세 개의 이름, 연결 불가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 데이터 관리(MDM)가 없으면 시스템 간 연결 자체가 불가능합니다.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"불량이 발생하면 — 현장의 현실"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713232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514600"/>
            <a:ext cx="365760" cy="365760"/>
          </a:xfrm>
          <a:prstGeom prst="oval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QMS 로그인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 이력 조회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2514600"/>
            <a:ext cx="365760" cy="365760"/>
          </a:xfrm>
          <a:prstGeom prst="oval">
            <a:avLst/>
          </a:prstGeom>
          <a:solidFill>
            <a:srgbClr val="E53935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조회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 이력 조회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2514600"/>
            <a:ext cx="365760" cy="365760"/>
          </a:xfrm>
          <a:prstGeom prst="oval">
            <a:avLst/>
          </a:prstGeom>
          <a:solidFill>
            <a:srgbClr val="E53935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 추출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센서 데이터 추출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1~2시간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2514600"/>
            <a:ext cx="365760" cy="365760"/>
          </a:xfrm>
          <a:prstGeom prst="oval">
            <a:avLst/>
          </a:prstGeom>
          <a:solidFill>
            <a:srgbClr val="E53935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CMMS 확인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정비 이력 확인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2514600"/>
            <a:ext cx="365760" cy="365760"/>
          </a:xfrm>
          <a:prstGeom prst="oval">
            <a:avLst/>
          </a:prstGeom>
          <a:solidFill>
            <a:srgbClr val="E53935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병합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수작업 교차 분석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2~4시간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1645920"/>
            <a:ext cx="1188720" cy="16459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1645920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소요 시간
</a:t>
            </a:r>
            <a:endParaRPr lang="en-US" sz="1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6시간</a:t>
            </a:r>
            <a:endParaRPr lang="en-US" sz="1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3일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 사이, 불량은 계속 만들어집니다"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  엔지니어 분석 중...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5시간 경과
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시스템 로그인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병합 중...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 가설 검증 중...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114800" cy="25603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 생산 라인 계속 가동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  ⚠️  ⚠️  ⚠️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  ⚠️  ⚠️  ⚠️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 Lot 8개 추가 생산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321040" cy="548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114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5시간 동안, 불량 Lot 8개가 추가로 생산됩니다.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"야간에는 더 심각합니다"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 주간 (08:00~17:00)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 엔지니어    3명
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엔지니어    2명
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엔지니어    2명
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즉시 다부서 협의 가능
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대응 시간: 2시간 이내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114800" cy="3108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 야간 (22:00~06:00)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교대 운전원        2명
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당직 설비 기사     1명
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전화 에스컬레이션 필요
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전문가 수면 중 (30분~1시간)
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원격 접속 미비 시 출근 (+1~2시간)
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대응 시간: 최대 7시간+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"현재 비용 — 매년 얼마를 잃고 있는가"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45920"/>
            <a:ext cx="2926080" cy="25603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6459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₩290~360억/년
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매출 1,000억 기준
</a:t>
            </a:r>
            <a:endParaRPr lang="en-US" sz="2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매출의 29~36%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Siemens 2024, IISE, Parsec  |  매출 1,000억 원 규모 제조사 기준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"기존 접근이 실패한 이유"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대시보드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828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현황 시각화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Why 답 못함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모델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1874520"/>
            <a:ext cx="1828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고장 확률 예측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실행 연결 안됨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(성공률 11%)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레이크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874520"/>
            <a:ext cx="1828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데이터 통합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의미/관계 없음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(80% 실패)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137160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49440" y="1874520"/>
            <a:ext cx="1828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반복 자동화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판단 불가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832104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7764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 가지를 모두 도입해도, "이해 → 추론 → 판단 → 실행" 통합 흐름은 만들어지지 않습니다.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각각의 사이를 연결하는 층이 없기 때문입니다.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"데이터에 의미와 관계와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행동이 없다."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560320"/>
            <a:ext cx="2560320" cy="18288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560320"/>
            <a:ext cx="256032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설비를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이름으로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2560320"/>
            <a:ext cx="2560320" cy="18288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2560320"/>
            <a:ext cx="256032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Lot→Machine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→Tool→Recipe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60320" cy="18288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2560320"/>
            <a:ext cx="256032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감지→분석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→판단→실행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8978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세 가지가 합쳐진 것 = 온톨로지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"이대로 두면 어떻게 되는가"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54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5544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경쟁력 약화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77%의 기업이 이미 AI를 도입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2~3년 내 원가 경쟁력 상실 위험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1554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371600"/>
            <a:ext cx="54864" cy="15544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인력 리스크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숙련 엔지니어 퇴직 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추적 역량 자체가 소멸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암묵지 의존 구조의 치명적 약점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108960"/>
            <a:ext cx="54864" cy="155448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규제 리스크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Act, 공급망 실사법 등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 대응 불가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글로벌 수출 장벽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4023360" cy="1554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3108960"/>
            <a:ext cx="54864" cy="15544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비용 누적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매년 ₩290~360억 원의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비효율 비용이 계속 쌓인다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3년이면 ₩870~1,080억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377440"/>
            <a:ext cx="36576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그래서,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해결할 것인가?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데이터에 의미와 관계와 행동을 부여하는 방법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온톨로지 + AI 기반 운영형 의사결정 시스템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"해결책: 데이터에 의미와 관계를 부여하다"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931920" cy="3200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흩어진 데이터 파편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 ✗  MES  ✗  SCADA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QMS  ✗  WMS  ✗  CMMS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같은 설비가 시스템마다 다른 이름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불량 원인 추적: 수동 교차 분석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"데이터는 넘치는데, 답은 없다"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96F3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0" y="3017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온톨로지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변환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4023360" cy="32004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연결된 객체 네트워크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설비(Machine)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├─ 공구(Tool)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├─ Lot → 자재 → 공급사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└─ 레시피(Recipe)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하나의 이름, 모든 팀이 공유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관계를 따라 자동 원인 도달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"데이터가 스스로 이야기한다"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"온톨로지란? — 30초 설명"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201168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공장의 사물과 사람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"이것은 CNC-14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설비이다"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520440"/>
            <a:ext cx="1828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Machine, Lot,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Tool, Recipe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371600"/>
            <a:ext cx="201168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148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사물 간의 연결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설비가 이 제품을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만든다"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3520440"/>
            <a:ext cx="1828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가공됨, 사용됨,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공급함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371600"/>
            <a:ext cx="201168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148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계산과 판단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설비가 위험한지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점수를 매긴다"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520440"/>
            <a:ext cx="1828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건강 점수,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 기여도 계산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1371600"/>
            <a:ext cx="2011680" cy="5486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2148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조치 실행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"정비팀에 수리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요청을 보낸다"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3520440"/>
            <a:ext cx="1828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격리,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정비 요청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"공장의 모든 사물(Object)이 관계(Link)로 연결되고, 스스로 판단(Function)하고, 필요하면 행동(Action)합니다."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"현실 세계를 디지털로 복제하다"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 현실 세계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CNC-14 설비 (실물)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"이 설비가 이 공정에 사용됨"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센서 측정값 (온도 85°C)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"고장 시 정비팀 호출"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작업자가 Lot 검사 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0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23360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23360" y="2834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23360" y="3291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3749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4297680" cy="29260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디지털 표현 (온톨로지)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Machine { id:"M-14", health:62 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Link: Machine→ProductionLine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788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Property: temp=85°C, vib=3.8mm/s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Action: RequestMaintenance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Operator→Lot (certifications)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"디지털 트윈(Digital Twin) — 현실이 바뀌면 디지털도 바뀌고, 디지털의 판단이 현실의 행동으로 이어집니다."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것이 연결된다 — 품질 역추적 체인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7863840" cy="2743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1097280" cy="548640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65760" cy="365760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Burr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3건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508760" y="1005840"/>
            <a:ext cx="1097280" cy="548640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005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1600200"/>
            <a:ext cx="365760" cy="365760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18745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011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L-0316-A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0" y="1005840"/>
            <a:ext cx="1097280" cy="548640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1005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08960" y="1600200"/>
            <a:ext cx="365760" cy="365760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2011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CNC-14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977640" y="1005840"/>
            <a:ext cx="1097280" cy="548640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20" name="Text 18"/>
          <p:cNvSpPr/>
          <p:nvPr/>
        </p:nvSpPr>
        <p:spPr>
          <a:xfrm>
            <a:off x="3977640" y="1005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공구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43400" y="1600200"/>
            <a:ext cx="365760" cy="365760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77640" y="2011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T-33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마모78%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212080" y="1005840"/>
            <a:ext cx="1097280" cy="548640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1005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레시피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1600200"/>
            <a:ext cx="365760" cy="365760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2011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R-42 v2.3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46520" y="1005840"/>
            <a:ext cx="1097280" cy="548640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1005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자재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12280" y="1600200"/>
            <a:ext cx="365760" cy="365760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🧱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46520" y="2011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AL-7075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Lot-0892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680960" y="1005840"/>
            <a:ext cx="1097280" cy="548640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0" y="1005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공급사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46720" y="1600200"/>
            <a:ext cx="365760" cy="365760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37" name="Text 35"/>
          <p:cNvSpPr/>
          <p:nvPr/>
        </p:nvSpPr>
        <p:spPr>
          <a:xfrm>
            <a:off x="80467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🏢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80960" y="2011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삼성메탈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196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온톨로지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추적 방식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4~5개 시스템 수동, 엑셀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관계 체인 자동 탐색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소요 시간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5시간 ~ 3일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96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 초 ~ 1분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단일 원인 추정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복합 원인 기여도(%) 산출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" name="Text 37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5시간 → 1분.  99.7% 단축.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"AI는 이 지도 위에서 일한다"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943600" cy="109728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3층: AI 에이전트 — "지도 위의 내비게이터"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진단 Agent  |  예지정비 Agent  |  생산 최적화 Agent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5943600" cy="9144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2층: 온톨로지 — "의미의 지도"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객체 + 14개 관계 + 7개 판단 + 7개 실행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5943600" cy="914400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1층: 데이터 통합 — "원재료"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+ MES + SCADA + QMS + WMS + CMMS + PLM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371600"/>
            <a:ext cx="2194560" cy="310896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1828800"/>
            <a:ext cx="1828800" cy="640080"/>
          </a:xfrm>
          <a:prstGeom prst="rect">
            <a:avLst/>
          </a:prstGeom>
          <a:solidFill>
            <a:srgbClr val="7B68EE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828800"/>
            <a:ext cx="45720" cy="64008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내비게이션 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2651760"/>
            <a:ext cx="1828800" cy="640080"/>
          </a:xfrm>
          <a:prstGeom prst="rect">
            <a:avLst/>
          </a:prstGeom>
          <a:solidFill>
            <a:srgbClr val="2196F3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2651760"/>
            <a:ext cx="45720" cy="6400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정밀 지도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3474720"/>
            <a:ext cx="1828800" cy="640080"/>
          </a:xfrm>
          <a:prstGeom prst="rect">
            <a:avLst/>
          </a:prstGeom>
          <a:solidFill>
            <a:srgbClr val="9E9E9E">
              <a:alpha val="1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3474720"/>
            <a:ext cx="45720" cy="640080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위성 사진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"위성 사진(데이터)만으로는 길을 찾을 수 없습니다.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지도(온톨로지)로 정리해야 하고, 내비(AI)가 있어야 최적 경로를 알려줍니다."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"AI에게 초능력을 주지 않는다"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0" y="1554480"/>
            <a:ext cx="1645920" cy="914400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1554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"제안합니다"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65176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651760"/>
            <a:ext cx="265176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승인 게이트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"레시피를 롤백하는 것이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좋겠습니다"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엔지니어 검토 → 품질 확인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팀장 승인 → 그제서야 실행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AI가 혼자 실행할 수 없음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265176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651760"/>
            <a:ext cx="265176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감사 추적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1089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AI 제안과 실행에 기록: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누가 요청했는가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어떤 근거로 제안했는가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누가 승인했는가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IATF 16949 / ISO 감사 대응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265176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651760"/>
            <a:ext cx="265176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권한 통제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31089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AI도 동일 보안 정책: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볼 수 있는 데이터 제한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실행 가능한 Action 제한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공장 A의 AI → 공장 B 접근 불가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AI에게 "열쇠꾸러미"를 주지 않음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"실제로 어떻게 동작하는지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보여드리겠습니다"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0"/>
            <a:ext cx="2651760" cy="21031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2651760" cy="5486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 원인 추적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5시간 → 1분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불량이 났지?"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2560320"/>
            <a:ext cx="2651760" cy="21031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2560320"/>
            <a:ext cx="265176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971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야간 이상 대응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7시간 → 65분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"새벽 2시, 진동 이상"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560320"/>
            <a:ext cx="2651760" cy="21031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2560320"/>
            <a:ext cx="265176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971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정비 vs 생산 갈등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경험 → 데이터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"정비를 미룰까 말까?"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"시나리오 A — 불량 원인, 5시간 → 1분"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월요일 오전 9:15.  CNC-14에서 Edge Burr 불량 30% 발생.  현대모비스 긴급 납기 D+3.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3931920" cy="27432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현행 프로세스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  불량 발견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09:45  QMS 이력 조회 (15분)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  전화... "회의 중, 30분 후"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11:15  SCADA 센서 추출 (1시간)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  WMS 자재 추적 시도 (실패)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14:30  라인 정지, 레시피 롤백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5시간 | 4명 투입 | 8개 Lot 추가 불량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4480560" cy="2743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508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온톨로지 +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182880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  불량 입력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  자동 관계 탐색 (3초)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09:16  기여도 자동 계산 (45초)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• 피드 속도 변경: 52%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• 공구 마모: 28%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09:22  승인 완료 → 실행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  정상 복귀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15분 | 2명 | 추가 불량 0개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4297680"/>
            <a:ext cx="4572000" cy="6400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4297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5시간 → 1분  |  원인 파악 시간 99.7% 단축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"시나리오 A — AI가 원인을 찾는 과정"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80467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86000"/>
            <a:ext cx="457200" cy="457200"/>
          </a:xfrm>
          <a:prstGeom prst="oval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 보고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Burr 3건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불량률 30%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알림 발생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2286000"/>
            <a:ext cx="457200" cy="457200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 탐색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8346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Defect→Lot→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Machine→Tool→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(3초)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2286000"/>
            <a:ext cx="457200" cy="457200"/>
          </a:xfrm>
          <a:prstGeom prst="oval">
            <a:avLst/>
          </a:prstGeom>
          <a:solidFill>
            <a:srgbClr val="FF9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기여도 계산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8346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피드속도 52%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공구마모 28%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정비런인 12%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2286000"/>
            <a:ext cx="457200" cy="457200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조치 제안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28346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레시피 롤백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12개 격리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승인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26680" y="2286000"/>
            <a:ext cx="457200" cy="457200"/>
          </a:xfrm>
          <a:prstGeom prst="oval">
            <a:avLst/>
          </a:prstGeom>
          <a:solidFill>
            <a:srgbClr val="7B68EE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실행·반영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28346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승인→자동실행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MES에 반영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데이터 축적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현행 (수동)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+ 온톨로지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② 관계 탐색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4~5개 시스템 수동 → 5시간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96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그래프 자동 탐색 → 3초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③ 기여도 계산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"아마 레시피인 것 같다" (감)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96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5개 요인 기여도(%) 정량 산출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"시나리오 B — 야간 이상, $124K → $8.5K"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새벽 02:35.  CNC-14 주축 진동 이상.  운전원 1명, 전문 엔지니어 수면 중.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3931920" cy="27432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현행 야간 대응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02:35  진동 이상 (15개 알람 중 하나)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02:50  운전원 "일단 지켜보자"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03:30  당직 기사, MES 접속 권한 없음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03:45  전문가 전화 (수면 중)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04:20  진동 급등 → 비상 정지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  주간조 분석 후 재가동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다운타임: 5시간 40분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$124,000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4480560" cy="2743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508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온톨로지 + AI 야간 대응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182880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02:35  이상 감지 + 추세 분석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→ 건강 점수 52, 불량 확률 67%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02:35  영향 범위 자동 산정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02:35  조치 옵션 3가지 제시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02:36  운전원 "승인" 터치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03:40  검증 운전 → 정상 복귀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다운타임: 0분 | 전문가 방해: 0명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$8,500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4297680"/>
            <a:ext cx="5303520" cy="6400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4297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$124,000 → $8,500  |  비용 93% 절감  |  다운타임 100% 제거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"시나리오 C — 정비 vs 생산, 갈등 해소"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13716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매일 벌어지는 딜레마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정비팀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"CNC-14 상태가 나빠지고 있어요.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안 하면 고장납니다"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233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"모비스 긴급 주문! 멈출 수 없습니다.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주로 미뤄주세요"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3931920" cy="1554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"다음 주로 미루기" → 수요일 고장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비계획 다운타임: 12시간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긴급 수리: ₩1,500만 (계획의 3배)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납기 2일 지연 → 페널티 ₩5,000만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불량 Lot 재작업: ₩800만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손실: 약 ₩1억 이상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2743200"/>
            <a:ext cx="4389120" cy="1554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788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AI 분석 결과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31089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건강 점수 62 → 하루 -1.5점 하락 중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금요일까지 미루면 고장 확률 23%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권장: "오늘 교대 시간(16:00~20:00)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4시간 점검, 대체 설비로 납기 준수"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 리스크 0% | 납기 준수 | ₩500만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4389120"/>
            <a:ext cx="5486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4389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경험적 갈등 → 데이터 기반 최적화  |  ₩1억 손실 → ₩500만 계획 정비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"세 시나리오의 시너지 — 닫힌 루프"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2194560"/>
            <a:ext cx="2011680" cy="914400"/>
          </a:xfrm>
          <a:prstGeom prst="oval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2194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온톨로지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(허브)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1188720"/>
            <a:ext cx="2926080" cy="548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1188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품질 진단 — 불량 패턴 축적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2468880"/>
            <a:ext cx="2743200" cy="54864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이상 대응 — 실시간 감지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2743200" cy="548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예지정비 — 최적 시점 예측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A→B: 불량 패턴이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감지 정확도 향상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B→C: 이상 빈도가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정비 예측 모델 개선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C→A: 정비 전후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변화 학습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862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절감 효과: ₩108~188억원
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₩60~100억  |  다운타임 ₩30~55억  |  의사결정 ₩8~13억  |  에너지 ₩10~20억
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회수 기간: 6~12개월   |   보수적 3년 ROI: 370%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377440"/>
            <a:ext cx="36576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도입할 것인가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 선택 → 4단계 로드맵 → 투자 대비 효과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 — 세 가지 옵션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2743200" cy="54864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 Foundry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₩40~105억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6~9개월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108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독립성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6304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종속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TCO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₩90~225억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37160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371600"/>
            <a:ext cx="27432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 자체 구축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₩21~38억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12~18개월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3108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독립성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8912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역량 의존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TCO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₩33~62억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137160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371600"/>
            <a:ext cx="27432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0" y="1234440"/>
            <a:ext cx="1005840" cy="2743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권장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6364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₩23~43억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12~15개월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3108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독립성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0에서 검증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TCO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₩33~67억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하이브리드인가"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7315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₩5~10억에서 검증 → 실패 시 손절 가능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43억을 한 번에 투자하지 않는다.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0~1에서 효과가 없으면 멈출 수 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54864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402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온톨로지 역량을 내부에 축적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플랫폼을 쓰든, 설계 역량이 내부에 없으면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영원히 외부 의존. Phase 0~1에서 역량 확보.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54864" cy="7315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089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154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플랫폼 전환 옵션 보유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2에서 규모가 커지면, 실제 운영 데이터로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팔란티어/MS Fabric/자체 구축 중 최적 선택.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77640"/>
            <a:ext cx="54864" cy="7315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776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종속 없이 장기 유연성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297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 기반이므로 구성 요소를 언제든 교체 가능.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→ 차세대 프레임워크 전환도 자유.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"작게 시작해서 검증하고, 실패해도 감당할 수 있는 규모로 진행한다."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 로드맵 — 18개월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91640"/>
            <a:ext cx="320040" cy="320040"/>
          </a:xfrm>
          <a:prstGeom prst="oval">
            <a:avLst/>
          </a:prstGeom>
          <a:solidFill>
            <a:srgbClr val="9E9E9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21945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194560"/>
            <a:ext cx="2011680" cy="54864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 구축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834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1~2개월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₩3~5억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5개 PoC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검증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3명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63240" y="1691640"/>
            <a:ext cx="320040" cy="320040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2423160" y="21945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23160" y="2194560"/>
            <a:ext cx="201168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2316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도메인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23160" y="2834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3~6개월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2316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₩8~15억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온톨로지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Object, 14 Link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23160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7명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1691640"/>
            <a:ext cx="320040" cy="320040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21945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194560"/>
            <a:ext cx="201168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통합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2834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6~12개월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₩8~15억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 3개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Tools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B+C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9명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60920" y="1691640"/>
            <a:ext cx="320040" cy="320040"/>
          </a:xfrm>
          <a:prstGeom prst="oval">
            <a:avLst/>
          </a:prstGeom>
          <a:solidFill>
            <a:srgbClr val="7B6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6720840" y="21945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20840" y="2194560"/>
            <a:ext cx="2011680" cy="54864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2084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전사 확장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2834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12~18개월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2084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₩4~8억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1228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닫힌 루프 운영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도메인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다공장 확장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0840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9명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투자:  ₩3~5억 → ₩11~20억 → ₩19~35억 → ₩23~43억         ▲ BEP (6~12개월)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— 2개월 안에 증명한다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2004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54864" cy="6400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1~2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카탈로그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핵심 의사결정 10개 식별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4864" cy="6400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3~4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Type 5개 PoC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Machine, Lot, Defect,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WorkOrder, Recipe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54864" cy="6400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63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5~6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매핑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ERP/MES/SCADA 연결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데이터 100건+ 적재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54864" cy="6400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7~8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&amp; 데모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Question 테스트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팀: 3명  |  비용: ₩3~5억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1371600"/>
            <a:ext cx="5029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23360" y="1417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 기준: 5개 질문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"이 불량 Lot는 어떤 설비에서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어떤 레시피로 만들어졌는가?"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"이 설비의 최근 정비 이력은?"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"이 레시피를 사용한 다른 Lot에도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불량이 있는가?"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❹ "현재 가동 중인 설비의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건강 상태 순위는?"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❺ "이번 주 정비가 필요한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설비 목록은?"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23360" y="4160520"/>
            <a:ext cx="466344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0" y="42519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모두 답 가능 → Phase 1 진행  |  3개 미만 → 재검토 또는 중단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대비 효과 — 숫자로 말하다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2011680" cy="54864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₩23~43억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(18개월)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280160"/>
            <a:ext cx="201168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절감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₩108~188억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2011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(/년)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80160"/>
            <a:ext cx="201168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회수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6~12개월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0" y="128016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280160"/>
            <a:ext cx="20116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ROI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370~1,245%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2011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(리스크 조정)</a:t>
            </a:r>
            <a:endParaRPr lang="en-US" sz="9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" y="2560320"/>
          <a:ext cx="5029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5760720" y="2560320"/>
            <a:ext cx="3108960" cy="2011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0" y="2651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시나리오
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보수적 (60%):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370%
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(80%):    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718%
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낙관적 (100%):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1,245%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"어디서 절감되는가"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28016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절감 합계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₩108~188억원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297680" y="1280160"/>
            <a:ext cx="45720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297680" y="1280160"/>
            <a:ext cx="54864" cy="7315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Text 5"/>
          <p:cNvSpPr/>
          <p:nvPr/>
        </p:nvSpPr>
        <p:spPr>
          <a:xfrm>
            <a:off x="448056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비용 절감    ₩60~100억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48056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COPQ 40~50% 감소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15~20% → 목표 8~10%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7680" y="2148840"/>
            <a:ext cx="45720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2148840"/>
            <a:ext cx="54864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4480560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다운타임 감소    ₩30~55억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480560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비계획 다운타임 75% 감소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설비당 200시간 → 50시간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297680" y="3017520"/>
            <a:ext cx="45720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97680" y="3017520"/>
            <a:ext cx="54864" cy="7315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6" name="Text 13"/>
          <p:cNvSpPr/>
          <p:nvPr/>
        </p:nvSpPr>
        <p:spPr>
          <a:xfrm>
            <a:off x="4480560" y="3063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 최적화    ₩10~20억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48056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전력 소비 5~10% 절감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 + 생산 스케줄 연동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97680" y="3886200"/>
            <a:ext cx="45720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97680" y="3886200"/>
            <a:ext cx="54864" cy="7315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0" name="Text 17"/>
          <p:cNvSpPr/>
          <p:nvPr/>
        </p:nvSpPr>
        <p:spPr>
          <a:xfrm>
            <a:off x="4480560" y="3931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인건비 절감    ₩8~13억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48056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 시간 96% 단축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 추적 20인시 → 0.5인시/건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"필요한 팀"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1~2개월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46304" cy="146304"/>
          </a:xfrm>
          <a:prstGeom prst="oval">
            <a:avLst/>
          </a:prstGeom>
          <a:solidFill>
            <a:srgbClr val="9E9E9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83080"/>
            <a:ext cx="146304" cy="146304"/>
          </a:xfrm>
          <a:prstGeom prst="oval">
            <a:avLst/>
          </a:prstGeom>
          <a:solidFill>
            <a:srgbClr val="9E9E9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783080"/>
            <a:ext cx="146304" cy="146304"/>
          </a:xfrm>
          <a:prstGeom prst="oval">
            <a:avLst/>
          </a:prstGeom>
          <a:solidFill>
            <a:srgbClr val="9E9E9E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3~6개월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783080"/>
            <a:ext cx="146304" cy="146304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1783080"/>
            <a:ext cx="146304" cy="146304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1783080"/>
            <a:ext cx="146304" cy="146304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783080"/>
            <a:ext cx="146304" cy="146304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1783080"/>
            <a:ext cx="146304" cy="146304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1783080"/>
            <a:ext cx="146304" cy="146304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1783080"/>
            <a:ext cx="146304" cy="146304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6~12개월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783080"/>
            <a:ext cx="146304" cy="146304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1783080"/>
            <a:ext cx="146304" cy="146304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0" y="1783080"/>
            <a:ext cx="146304" cy="146304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0" y="1783080"/>
            <a:ext cx="146304" cy="146304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0" y="1783080"/>
            <a:ext cx="146304" cy="146304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24" name="Shape 22"/>
          <p:cNvSpPr/>
          <p:nvPr/>
        </p:nvSpPr>
        <p:spPr>
          <a:xfrm>
            <a:off x="5852160" y="1783080"/>
            <a:ext cx="146304" cy="146304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0" y="1783080"/>
            <a:ext cx="146304" cy="146304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1783080"/>
            <a:ext cx="146304" cy="146304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1783080"/>
            <a:ext cx="146304" cy="146304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9명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12~18개월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32320" y="1783080"/>
            <a:ext cx="146304" cy="146304"/>
          </a:xfrm>
          <a:prstGeom prst="oval">
            <a:avLst/>
          </a:prstGeom>
          <a:solidFill>
            <a:srgbClr val="7B6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0" y="1783080"/>
            <a:ext cx="146304" cy="146304"/>
          </a:xfrm>
          <a:prstGeom prst="oval">
            <a:avLst/>
          </a:prstGeom>
          <a:solidFill>
            <a:srgbClr val="7B6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0" y="1783080"/>
            <a:ext cx="146304" cy="146304"/>
          </a:xfrm>
          <a:prstGeom prst="oval">
            <a:avLst/>
          </a:prstGeom>
          <a:solidFill>
            <a:srgbClr val="7B6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7680960" y="1783080"/>
            <a:ext cx="146304" cy="146304"/>
          </a:xfrm>
          <a:prstGeom prst="oval">
            <a:avLst/>
          </a:prstGeom>
          <a:solidFill>
            <a:srgbClr val="7B6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7863840" y="1783080"/>
            <a:ext cx="146304" cy="146304"/>
          </a:xfrm>
          <a:prstGeom prst="oval">
            <a:avLst/>
          </a:prstGeom>
          <a:solidFill>
            <a:srgbClr val="7B6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8046720" y="1783080"/>
            <a:ext cx="146304" cy="146304"/>
          </a:xfrm>
          <a:prstGeom prst="oval">
            <a:avLst/>
          </a:prstGeom>
          <a:solidFill>
            <a:srgbClr val="7B6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0" y="1783080"/>
            <a:ext cx="146304" cy="146304"/>
          </a:xfrm>
          <a:prstGeom prst="oval">
            <a:avLst/>
          </a:prstGeom>
          <a:solidFill>
            <a:srgbClr val="7B6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8412480" y="1783080"/>
            <a:ext cx="146304" cy="146304"/>
          </a:xfrm>
          <a:prstGeom prst="oval">
            <a:avLst/>
          </a:prstGeom>
          <a:solidFill>
            <a:srgbClr val="7B6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8595360" y="1783080"/>
            <a:ext cx="146304" cy="146304"/>
          </a:xfrm>
          <a:prstGeom prst="oval">
            <a:avLst/>
          </a:prstGeom>
          <a:solidFill>
            <a:srgbClr val="7B68EE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9명 (자체 운영)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온톨로지 엔지니어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엔지니어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AI/ML 엔지니어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도메인 전문가(현장)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"리스크와 대응"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8229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"실패하면?"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0" y="13716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66160" y="1371600"/>
            <a:ext cx="54864" cy="82296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417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0에서 ₩3~5억으로 검증.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시 손절 가능. 2개월 후 데이터로 판단.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27432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"AI가 실수하면?"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4688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80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566160" y="246888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2468880"/>
            <a:ext cx="54864" cy="82296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514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제안만, 실행은 사람이 승인.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조치에 감사 로그.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무사고 후에야 자동 실행.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2743200" cy="82296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66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"현장이 안 쓰면?"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35661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68EE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566160" y="356616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66160" y="3566160"/>
            <a:ext cx="54864" cy="82296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3611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전문가가 처음부터 참여.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"AI가 대체" 아닌 "데이터 수집 노동을 AI가 대신".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작은 성공부터 보여주고 확산.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정리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411480" cy="411480"/>
          </a:xfrm>
          <a:prstGeom prst="oval">
            <a:avLst/>
          </a:prstGeom>
          <a:solidFill>
            <a:srgbClr val="E5393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54480" y="9144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문제는 데이터가 없는 것이 아니라,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간 의미와 관계가 없는 것이다.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oval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온톨로지는 데이터를 현실 객체로 바꾸고,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"몇 %?" 를 "어디를 고쳐야 하나?" 로 바꾼다.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411480" cy="411480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5603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이 구조 위에서 24시간 판단 엔진이 되지만,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실행은 사람이 통제한다.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474720"/>
            <a:ext cx="411480" cy="411480"/>
          </a:xfrm>
          <a:prstGeom prst="oval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3832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접근으로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₩3~5억에서 검증하고, 효과가 입증되면 확대한다.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297680"/>
            <a:ext cx="411480" cy="411480"/>
          </a:xfrm>
          <a:prstGeom prst="oval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206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₩108~188억 절감,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회수 6~12개월.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"다음 단계" — 경영진께 요청드립니다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27432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승인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₩3~5억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"검증 투자"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80160"/>
            <a:ext cx="27432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 대상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라인 선정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148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 생산 라인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(품질 이슈가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큰 라인)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"실험 대상"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80160"/>
            <a:ext cx="274320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3명 배정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148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온톨로지 엔지니어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엔지니어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전문가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"실행 주체"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859536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"2개월 후, 다음 5개 질문에 시스템이 답할 수 있는지 보여드리겠습니다."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이 불량 Lot의 설비/레시피는?  ② 설비의 정비 이력은?  ③ 이 레시피 다른 Lot 불량?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설비 건강 상태 순위?  ⑤ 이번 주 정비 필요 설비?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Sector AI-Driven Research Center  |  ai-research@company.com  |  2026년 3월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데이터에서 결정으로 — 온톨로지 + AI 기반 스마트팩토리 전략</dc:title>
  <dc:subject>PptxGenJS Presentation</dc:subject>
  <dc:creator>Manufacturing Sector AI-Driven Research Center</dc:creator>
  <cp:lastModifiedBy>Manufacturing Sector AI-Driven Research Center</cp:lastModifiedBy>
  <cp:revision>1</cp:revision>
  <dcterms:created xsi:type="dcterms:W3CDTF">2026-03-16T02:04:52Z</dcterms:created>
  <dcterms:modified xsi:type="dcterms:W3CDTF">2026-03-16T02:04:52Z</dcterms:modified>
</cp:coreProperties>
</file>